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
<Relationships xmlns="http://schemas.openxmlformats.org/package/2006/relationships">
  
		
  <Relationship Id="rId1" Type="http://schemas.openxmlformats.org/officeDocument/2006/relationships/extended-properties" Target="docProps/app.xml"/>
  
		
  <Relationship Id="rId2" Type="http://schemas.openxmlformats.org/package/2006/relationships/metadata/core-properties" Target="docProps/core.xml"/>
  
		
  <Relationship Id="rId3" Type="http://schemas.openxmlformats.org/officeDocument/2006/relationships/officeDocument" Target="ppt/presentation.xml"/>
  
		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notesMaster" Target="notesMasters/notesMaster1.xml"/>
  <Relationship Id="rId17" Type="http://schemas.openxmlformats.org/officeDocument/2006/relationships/presProps" Target="presProps.xml"/>
  <Relationship Id="rId18" Type="http://schemas.openxmlformats.org/officeDocument/2006/relationships/viewProps" Target="viewProps.xml"/>
  <Relationship Id="rId19" Type="http://schemas.openxmlformats.org/officeDocument/2006/relationships/theme" Target="theme/theme1.xml"/>
  <Relationship Id="rId20" Type="http://schemas.openxmlformats.org/officeDocument/2006/relationships/tableStyles" Target="tableStyles.xml"/>
</Relationships>

</file>

<file path=ppt/charts/_rels/chart1.xml.rels><?xml version="1.0" encoding="utf-8"?>
<Relationships xmlns="http://schemas.openxmlformats.org/package/2006/relationships">
  <Relationship Id="rId1" Type="http://schemas.openxmlformats.org/officeDocument/2006/relationships/package" Target="../embeddings/Microsoft_Excel_Worksheet1.xlsx"/>
</Relationships>

</file>

<file path=ppt/charts/_rels/chart2.xml.rels><?xml version="1.0" encoding="utf-8"?>
<Relationships xmlns="http://schemas.openxmlformats.org/package/2006/relationships">
  <Relationship Id="rId1" Type="http://schemas.openxmlformats.org/officeDocument/2006/relationships/package" Target="../embeddings/Microsoft_Excel_Worksheet2.xlsx"/>
</Relationships>

</file>

<file path=ppt/charts/_rels/chart3.xml.rels><?xml version="1.0" encoding="utf-8"?>
<Relationships xmlns="http://schemas.openxmlformats.org/package/2006/relationships">
  <Relationship Id="rId1" Type="http://schemas.openxmlformats.org/officeDocument/2006/relationships/package" Target="../embeddings/Microsoft_Excel_Worksheet3.xlsx"/>
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Expert Interventions/ep</c:v>
                </c:pt>
              </c:strCache>
            </c:strRef>
          </c:tx>
          <c:spPr>
            <a:solidFill>
              <a:srgbClr val="C746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5E7E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iter1</c:v>
                  </c:pt>
                  <c:pt idx="1">
                    <c:v>iter2</c:v>
                  </c:pt>
                  <c:pt idx="2">
                    <c:v>iter3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22.8</c:v>
                </c:pt>
                <c:pt idx="1">
                  <c:v>17.4</c:v>
                </c:pt>
                <c:pt idx="2">
                  <c:v>10.9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5E7E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0"/>
        <c:axPos val="l"/>
        <c:majorGridlines>
          <c:spPr>
            <a:ln w="6350" cap="flat">
              <a:solidFill>
                <a:srgbClr val="4B556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25252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$/10k steps</c:v>
                </c:pt>
              </c:strCache>
            </c:strRef>
          </c:tx>
          <c:spPr>
            <a:solidFill>
              <a:srgbClr val="C746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5E7E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746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B556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91B1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OCI A100</c:v>
                  </c:pt>
                  <c:pt idx="1">
                    <c:v>DGX On-Prem</c:v>
                  </c:pt>
                  <c:pt idx="2">
                    <c:v>Lambda Labs</c:v>
                  </c:pt>
                  <c:pt idx="3">
                    <c:v>AWS p4d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0.0043</c:v>
                </c:pt>
                <c:pt idx="1">
                  <c:v>0.0045</c:v>
                </c:pt>
                <c:pt idx="2">
                  <c:v>0.018</c:v>
                </c:pt>
                <c:pt idx="3">
                  <c:v>0.041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E5E7E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5E7E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4B556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252528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Throughput</c:v>
                </c:pt>
              </c:strCache>
            </c:strRef>
          </c:tx>
          <c:spPr>
            <a:solidFill>
              <a:srgbClr val="4B556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5E7E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B55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7463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1× A100
(batch=32)</c:v>
                  </c:pt>
                  <c:pt idx="1">
                    <c:v>4× A100
(batch=128)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75</c:v>
                </c:pt>
                <c:pt idx="1">
                  <c:v>230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E5E7E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5E7E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0"/>
        </c:scaling>
        <c:delete val="0"/>
        <c:axPos val="l"/>
        <c:majorGridlines>
          <c:spPr>
            <a:ln w="6350" cap="flat">
              <a:solidFill>
                <a:srgbClr val="4B556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25252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
  
		
  <Relationship Id="rId1" Type="http://schemas.openxmlformats.org/officeDocument/2006/relationships/theme" Target="../theme/theme1.xml"/>
  
		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.xml"/>
  
		
</Relationships>

</file>

<file path=ppt/notesSlides/_rels/notesSlide2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2.xml"/>
  
		
</Relationships>

</file>

<file path=ppt/notesSlides/_rels/notesSlide3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3.xml"/>
  
		
</Relationships>

</file>

<file path=ppt/notesSlides/_rels/notesSlide4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4.xml"/>
  
		
</Relationships>

</file>

<file path=ppt/notesSlides/_rels/notesSlide5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5.xml"/>
  
		
</Relationships>

</file>

<file path=ppt/notesSlides/_rels/notesSlide6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6.xml"/>
  
		
</Relationships>

</file>

<file path=ppt/notesSlides/_rels/notesSlide7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7.xml"/>
  
		
</Relationships>

</file>

<file path=ppt/notesSlides/_rels/notesSlide8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8.xml"/>
  
		
</Relationships>

</file>

<file path=ppt/notesSlides/_rels/notesSlide9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9.xml"/>
  
		
</Relationships>

</file>

<file path=ppt/notesSlides/_rels/notesSlide10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0.xml"/>
  
		
</Relationships>

</file>

<file path=ppt/notesSlides/_rels/notesSlide11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1.xml"/>
  
		
</Relationships>

</file>

<file path=ppt/notesSlides/_rels/notesSlide12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2.xml"/>
  
		
</Relationships>

</file>

<file path=ppt/notesSlides/_rels/notesSlide13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3.xml"/>
  
		
</Relationships>

</file>

<file path=ppt/notesSlides/_rels/notesSlide14.xml.rels><?xml version="1.0" encoding="utf-8"?>
<Relationships xmlns="http://schemas.openxmlformats.org/package/2006/relationships">
  
			
  <Relationship Id="rId1" Type="http://schemas.openxmlformats.org/officeDocument/2006/relationships/notesMaster" Target="../notesMasters/notesMaster1.xml"/>
  
			
  <Relationship Id="rId2" Type="http://schemas.openxmlformats.org/officeDocument/2006/relationships/slide" Target="../slides/slide14.xml"/>
  
		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chart" Target="/ppt/charts/chart1.xml"/>
  <Relationship Id="rId2" Type="http://schemas.openxmlformats.org/officeDocument/2006/relationships/slideLayout" Target="../slideLayouts/slideLayout1.xml"/>
  <Relationship Id="rId3" Type="http://schemas.openxmlformats.org/officeDocument/2006/relationships/notesSlide" Target="../notesSlides/notesSlide7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chart" Target="/ppt/charts/chart2.xml"/>
  <Relationship Id="rId2" Type="http://schemas.openxmlformats.org/officeDocument/2006/relationships/slideLayout" Target="../slideLayouts/slideLayout1.xml"/>
  <Relationship Id="rId3" Type="http://schemas.openxmlformats.org/officeDocument/2006/relationships/notesSlide" Target="../notesSlides/notesSlide9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chart" Target="/ppt/charts/chart3.xml"/>
  <Relationship Id="rId2" Type="http://schemas.openxmlformats.org/officeDocument/2006/relationships/slideLayout" Target="../slideLayouts/slideLayout1.xml"/>
  <Relationship Id="rId3" Type="http://schemas.openxmlformats.org/officeDocument/2006/relationships/notesSlide" Target="../notesSlides/notesSlide10.xml"/>
</Relationships>

</file>

<file path=ppt/slides/_rels/slide1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1.xml"/>
</Relationships>

</file>

<file path=ppt/slides/_rels/slide1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_rels/slide1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3.xml"/>
</Relationships>

</file>

<file path=ppt/slides/_rels/slide1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CLOUD INFRASTRUCTURE  ×  NVIDIA GR00T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Synthetic Data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Real Robot Actions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365760" y="2377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OCI + NVIDIA GR00T Cut Training Cost 9.6× Without Sacrificing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926080"/>
            <a:ext cx="841248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3063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Qian  ·  Oracle Cloud Infrastructure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4015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collaboration with NVIDIA Isaac × GR00T Team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 ·  San Jose, CA  ·  March 2027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0" y="2560320"/>
            <a:ext cx="3931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20000" b="1" dirty="0">
                <a:solidFill>
                  <a:srgbClr val="252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20000" dirty="0"/>
          </a:p>
        </p:txBody>
      </p:sp>
      <p:sp>
        <p:nvSpPr>
          <p:cNvPr id="12" name="Text 10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Every Robotics Startup Hits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OCI × NVIDIA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5120640" cy="10515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105156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05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DGX or nothing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3533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$200k CapEx before writing a line of robot code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5120640" cy="10515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48840"/>
            <a:ext cx="54864" cy="105156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2402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Real robot data at scale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25877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labeled demos × $50/demo = $500k data budget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83280"/>
            <a:ext cx="5120640" cy="10515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383280"/>
            <a:ext cx="54864" cy="105156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474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Slow iteration velocity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38221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3-week hardware procurement vs 5-min OCI spin-up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0" y="868680"/>
            <a:ext cx="2926080" cy="3200400"/>
          </a:xfrm>
          <a:prstGeom prst="rect">
            <a:avLst/>
          </a:prstGeom>
          <a:solidFill>
            <a:srgbClr val="3D0D07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051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7200" dirty="0"/>
          </a:p>
        </p:txBody>
      </p:sp>
      <p:sp>
        <p:nvSpPr>
          <p:cNvPr id="20" name="Text 18"/>
          <p:cNvSpPr/>
          <p:nvPr/>
        </p:nvSpPr>
        <p:spPr>
          <a:xfrm>
            <a:off x="5943600" y="1920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robotics startups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labeled demos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4360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seed/Series 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analysis 2024–2026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Full NVIDIA Stack on OCI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OCI × NVIDIA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41248"/>
            <a:ext cx="2697480" cy="40233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41248"/>
            <a:ext cx="269748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91440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GENERATE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9768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" y="1554480"/>
            <a:ext cx="2478024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64592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0.4.3 + Isaac Sim 4.5.0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IK-planned trajectories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RTX domain randomization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demos in 90 seconds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IK success rate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" y="3547872"/>
            <a:ext cx="2478024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657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/ 90s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0" y="841248"/>
            <a:ext cx="2697480" cy="40233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841248"/>
            <a:ext cx="269748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91440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TRAIN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10128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GR00T Fine-Tuning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310128" y="1554480"/>
            <a:ext cx="2478024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10128" y="164592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GR00T N1.6-3B (3B params)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2.35 steps/sec on A100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3.07× DDP on 4× A100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$0.0043 per 10k steps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GPU utilization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310128" y="3547872"/>
            <a:ext cx="2478024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3657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2.35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3200400" y="413308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it/s on A100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80760" y="841248"/>
            <a:ext cx="2697480" cy="40233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80760" y="841248"/>
            <a:ext cx="269748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90488" y="91440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DEPLOY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90488" y="117043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Inference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190488" y="1554480"/>
            <a:ext cx="2478024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0488" y="1645920"/>
            <a:ext cx="2514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LeRobot v2 → GR00T server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179ms inference latency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AGX Orin deploy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+ 16-step chunks</a:t>
            </a:r>
            <a:endParaRPr lang="en-US" sz="11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distillation → 60M params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0488" y="3547872"/>
            <a:ext cx="2478024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0760" y="3657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179ms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080760" y="4133088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latency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971800" y="20116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852160" y="201168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320040" y="4892040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 we'll demo live today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Genesis: 100 Demos in 90 Seconds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Synthetic Data Generation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68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GENERATION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IK success rate — zero failed grasps to filter</a:t>
            </a:r>
            <a:endParaRPr lang="en-US" sz="13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38.5 fps simulation on OCI A100-SXM4-80GB</a:t>
            </a:r>
            <a:endParaRPr lang="en-US" sz="13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randomization: lighting, color, cube position (±10cm)</a:t>
            </a:r>
            <a:endParaRPr lang="en-US" sz="13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LeRobot v2 format — direct input to GR00T fine-tuning</a:t>
            </a:r>
            <a:endParaRPr lang="en-US" sz="13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1000-demo dataset: mixed positions → broader policy generalization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40416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demos/sec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03120" y="3474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103120" y="40416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simulation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0" y="347472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749040" y="4041648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success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0" y="868680"/>
            <a:ext cx="3383280" cy="3291840"/>
          </a:xfrm>
          <a:prstGeom prst="rect">
            <a:avLst/>
          </a:prstGeom>
          <a:solidFill>
            <a:srgbClr val="1A1A1D"/>
          </a:solidFill>
          <a:ln w="12700">
            <a:solidFill>
              <a:srgbClr val="1A1A1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9418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● 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23560" y="1188720"/>
            <a:ext cx="31546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genesis_sdg_planned.py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--num-demos 100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--output /tmp/sdg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--seed 42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[SDG] Demo 001/100  IK ✓  0.94s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[SDG] Demo 025/100  IK ✓  0.91s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[SDG] Demo 050/100  IK ✓  0.93s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[SDG] Demo 100/100  IK ✓  0.91s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Total: 100 demos in 92s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IK success (0 failures)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480560"/>
            <a:ext cx="8412480" cy="457200"/>
          </a:xfrm>
          <a:prstGeom prst="rect">
            <a:avLst/>
          </a:prstGeom>
          <a:solidFill>
            <a:srgbClr val="3D0D07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50799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1000 demos with mixed cube positions for broader policy generalization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GR00T Fine-Tuning on OCI A100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Training Pipeline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68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25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model: GR00T N1.6-3B (NVIDIA NGC)</a:t>
            </a:r>
            <a:endParaRPr lang="en-US" sz="125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1000 demos × 100 steps = 50,000 frames</a:t>
            </a:r>
            <a:endParaRPr lang="en-US" sz="125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 OCI A100-SXM4-80GB (GPU4)</a:t>
            </a:r>
            <a:endParaRPr lang="en-US" sz="125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size: 32  ·  LR: 1e-4 (HPO-optimized)</a:t>
            </a:r>
            <a:endParaRPr lang="en-US" sz="125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time: ~33 min for 5000 steps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METRICS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71800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(random)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demos, 5k steps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0.013  (8.7×↑)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demos, 5k steps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  (↓39%)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40680" y="868680"/>
            <a:ext cx="3383280" cy="8229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40680" y="90525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2.35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5440680" y="138074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it/s  ·  single A100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40680" y="1874520"/>
            <a:ext cx="3383280" cy="8229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40680" y="191109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3.07×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5440680" y="23865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 speedup  ·  4× A100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40680" y="2880360"/>
            <a:ext cx="3383280" cy="8229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40680" y="291693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$0.0043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5440680" y="339242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10,000 steps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40680" y="3886200"/>
            <a:ext cx="3383280" cy="8229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40680" y="392277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5440680" y="439826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utilization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800" dirty="0"/>
          </a:p>
        </p:txBody>
      </p:sp>
      <p:sp>
        <p:nvSpPr>
          <p:cNvPr id="99" name="Footnote 1"/>
          <p:cNvSpPr/>
          <p:nvPr/>
        </p:nvSpPr>
        <p:spPr>
          <a:xfrm>
            <a:off x="457200" y="4400000"/>
            <a:ext cx="475488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CA3AF"/>
                </a:solidFill>
                <a:latin typeface="Calibri" pitchFamily="34" charset="0"/>
              </a:rPr>
              <a:t>*closed-loop eval in progress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Eval: Finding the Real Bug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Debugging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68680"/>
            <a:ext cx="4206240" cy="182880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68680"/>
            <a:ext cx="502920" cy="1828800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" y="1463040"/>
            <a:ext cx="475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9601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Open-loop MAE: 0.013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4173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GR00T achieves 8.7× better joint prediction than random baseline. Looks great on paper.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4206240" cy="182880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926080"/>
            <a:ext cx="502920" cy="1828800"/>
          </a:xfrm>
          <a:prstGeom prst="rect">
            <a:avLst/>
          </a:prstGeom>
          <a:solidFill>
            <a:srgbClr val="4B5563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" y="3520440"/>
            <a:ext cx="475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30175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closed loop → 0% success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4747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never picks up the cube despite excellent MAE. Standard train/eval mismatch?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868680"/>
            <a:ext cx="4206240" cy="1828800"/>
          </a:xfrm>
          <a:prstGeom prst="rect">
            <a:avLst/>
          </a:prstGeom>
          <a:solidFill>
            <a:srgbClr val="3D0D07"/>
          </a:solidFill>
          <a:ln w="12700">
            <a:solidFill>
              <a:srgbClr val="3D0D0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868680"/>
            <a:ext cx="502920" cy="182880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64608" y="1463040"/>
            <a:ext cx="475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440680" y="9601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CPU vs CUDA backend mismatch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40680" y="14173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 equilibrium: CPU=1.799, CUDA=2.124 (18% difference). Training used CUDA dynamics. PD controller converges to wrong equilibrium at eval.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2926080"/>
            <a:ext cx="4206240" cy="1828800"/>
          </a:xfrm>
          <a:prstGeom prst="rect">
            <a:avLst/>
          </a:prstGeom>
          <a:solidFill>
            <a:srgbClr val="0D2E1C"/>
          </a:solidFill>
          <a:ln w="12700">
            <a:solidFill>
              <a:srgbClr val="0D2E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2926080"/>
            <a:ext cx="502920" cy="18288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64608" y="3520440"/>
            <a:ext cx="475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40680" y="30175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CUDA backend + 9-DOF + 2 sim steps/action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40680" y="34747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eval environment with training environment. Result: 5% closed-loop success achieved.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9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20040" y="484632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open-loop MAE is necessary but not sufficient — always validate closed-loop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DAgger: Closing the Loop with On-Policy Data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Online Learning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68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AGGREGATION (DAGGER)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covariate shift problem: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trains on expert demos only → policy sees states it was never trained on</a:t>
            </a:r>
            <a:endParaRPr lang="en-US" sz="12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errors compound: the further from training distribution, the worse it gets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4846320" cy="777240"/>
          </a:xfrm>
          <a:prstGeom prst="rect">
            <a:avLst/>
          </a:prstGeom>
          <a:solidFill>
            <a:srgbClr val="1A1A1D"/>
          </a:solidFill>
          <a:ln w="12700">
            <a:solidFill>
              <a:srgbClr val="1A1A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7249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 =  β × expert  +  (1 − β) × policy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0906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iter1: β=0.40    iter2: β=0.28    iter3: β=0.20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5204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interventions per episode decline as policy improves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394960" y="868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097280"/>
          <a:ext cx="34747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594360"/>
                <a:gridCol w="1005840"/>
                <a:gridCol w="7315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 Success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Interv./ep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(full expert)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DAgger iter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~52%*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DAgger iter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~55%*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DAgger iter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~65%*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394960" y="301752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Collection success rate (policy + expert blended)</a:t>
            </a:r>
            <a:endParaRPr lang="en-US" sz="9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394960" y="3337560"/>
          <a:ext cx="347472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3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The Full 15-Minute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Live Demo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68680"/>
            <a:ext cx="4206240" cy="182880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68680"/>
            <a:ext cx="50292" cy="182880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418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05840" y="960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960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 sec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99032"/>
            <a:ext cx="3913632" cy="685800"/>
          </a:xfrm>
          <a:prstGeom prst="rect">
            <a:avLst/>
          </a:prstGeom>
          <a:solidFill>
            <a:srgbClr val="1A1A1D"/>
          </a:solidFill>
          <a:ln w="12700">
            <a:solidFill>
              <a:srgbClr val="1A1A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44475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genesis_sdg_planned.py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--num-demos 100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IK success  ·  38.5 fps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0600" y="868680"/>
            <a:ext cx="4206240" cy="182880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868680"/>
            <a:ext cx="50292" cy="182880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9418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486400" y="960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+ Train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960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 min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0" y="1399032"/>
            <a:ext cx="3913632" cy="685800"/>
          </a:xfrm>
          <a:prstGeom prst="rect">
            <a:avLst/>
          </a:prstGeom>
          <a:solidFill>
            <a:srgbClr val="1A1A1D"/>
          </a:solidFill>
          <a:ln w="12700">
            <a:solidFill>
              <a:srgbClr val="1A1A1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44475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genesis_to_lerobot.py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launch_finetune.py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2.35 it/s  ·  loss 0.68→0.16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2880360"/>
            <a:ext cx="4206240" cy="182880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880360"/>
            <a:ext cx="50292" cy="182880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00584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Policy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11480" y="29718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410712"/>
            <a:ext cx="3913632" cy="685800"/>
          </a:xfrm>
          <a:prstGeom prst="rect">
            <a:avLst/>
          </a:prstGeom>
          <a:solidFill>
            <a:srgbClr val="1A1A1D"/>
          </a:solidFill>
          <a:ln w="12700">
            <a:solidFill>
              <a:srgbClr val="1A1A1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45643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localhost:8002/predict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-F image=@frame.jpg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3434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179ms latency  ·  16-step chunks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2880360"/>
            <a:ext cx="4206240" cy="182880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2880360"/>
            <a:ext cx="50292" cy="182880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864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892040" y="297180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37760" y="3410712"/>
            <a:ext cx="3913632" cy="685800"/>
          </a:xfrm>
          <a:prstGeom prst="rect">
            <a:avLst/>
          </a:prstGeom>
          <a:solidFill>
            <a:srgbClr val="1A1A1D"/>
          </a:solidFill>
          <a:ln w="12700">
            <a:solidFill>
              <a:srgbClr val="1A1A1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29200" y="345643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closed_loop_eval.py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--num-episodes 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37760" y="43434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success measurement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20040" y="4773168"/>
            <a:ext cx="8503920" cy="256032"/>
          </a:xfrm>
          <a:prstGeom prst="rect">
            <a:avLst/>
          </a:prstGeom>
          <a:solidFill>
            <a:srgbClr val="3D0D07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78231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~15 minutes end-to-end  ·  ~$0.85 compute cost  ·  Zero hardware required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Cost: OCI Wins on Every Dimension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Cost Analysis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320040" y="86868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363931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= better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20040" y="3931920"/>
            <a:ext cx="4846320" cy="777240"/>
          </a:xfrm>
          <a:prstGeom prst="rect">
            <a:avLst/>
          </a:prstGeom>
          <a:solidFill>
            <a:srgbClr val="3D0D07"/>
          </a:solidFill>
          <a:ln w="12700">
            <a:solidFill>
              <a:srgbClr val="3D0D0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40416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9.6× cheaper than AWS p4d  ·  4.2× cheaper than Lambda Labs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868680"/>
          <a:ext cx="34747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005840"/>
                <a:gridCol w="640080"/>
                <a:gridCol w="594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$/10k steps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Burst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1E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OCI A100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32× A100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DGX On-Prem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~$0.0045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$200k+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p4d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Labs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BBF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5E7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B55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528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394960" y="2926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 / OC2 compliant  ·  US-origin data requirements met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394960" y="3337560"/>
            <a:ext cx="749808" cy="411480"/>
          </a:xfrm>
          <a:prstGeom prst="rect">
            <a:avLst/>
          </a:prstGeom>
          <a:solidFill>
            <a:srgbClr val="2C1E1A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394960" y="3364992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CapEx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6217920" y="3337560"/>
            <a:ext cx="749808" cy="411480"/>
          </a:xfrm>
          <a:prstGeom prst="rect">
            <a:avLst/>
          </a:prstGeom>
          <a:solidFill>
            <a:srgbClr val="2C1E1A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364992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7040880" y="3337560"/>
            <a:ext cx="749808" cy="411480"/>
          </a:xfrm>
          <a:prstGeom prst="rect">
            <a:avLst/>
          </a:prstGeom>
          <a:solidFill>
            <a:srgbClr val="2C1E1A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040880" y="3364992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setup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7863840" y="3337560"/>
            <a:ext cx="749808" cy="411480"/>
          </a:xfrm>
          <a:prstGeom prst="rect">
            <a:avLst/>
          </a:prstGeom>
          <a:solidFill>
            <a:srgbClr val="2C1E1A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0" y="3364992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32× A100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Scaling from 1 to 4 A100s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Multi-GPU DDP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5727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samples/sec  ·  1× A100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578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samples/sec  ·  4× A100  (3.07×)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7432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parallel efficiency at 4×  (ideal = 4.0×, achieved = 3.07×)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777240" cy="548640"/>
          </a:xfrm>
          <a:prstGeom prst="rect">
            <a:avLst/>
          </a:prstGeom>
          <a:solidFill>
            <a:srgbClr val="252528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004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417320" y="3154680"/>
            <a:ext cx="777240" cy="548640"/>
          </a:xfrm>
          <a:prstGeom prst="rect">
            <a:avLst/>
          </a:prstGeom>
          <a:solidFill>
            <a:srgbClr val="252528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32004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77440" y="3154680"/>
            <a:ext cx="777240" cy="548640"/>
          </a:xfrm>
          <a:prstGeom prst="rect">
            <a:avLst/>
          </a:prstGeom>
          <a:solidFill>
            <a:srgbClr val="252528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32004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37560" y="3154680"/>
            <a:ext cx="777240" cy="548640"/>
          </a:xfrm>
          <a:prstGeom prst="rect">
            <a:avLst/>
          </a:prstGeom>
          <a:solidFill>
            <a:srgbClr val="252528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37560" y="32004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97680" y="3246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torchrun DDP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94760"/>
            <a:ext cx="4572000" cy="1097280"/>
          </a:xfrm>
          <a:prstGeom prst="rect">
            <a:avLst/>
          </a:prstGeom>
          <a:solidFill>
            <a:srgbClr val="1A1A1D"/>
          </a:solidFill>
          <a:ln w="12700">
            <a:solidFill>
              <a:srgbClr val="1A1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86791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● ●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4360" y="411480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torchrun --nproc_per_node=4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launch_finetune.py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--num-gpus 4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--global-batch-size 128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8C3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230 samples/sec  ·  ~10 min for 5k steps</a:t>
            </a:r>
            <a:endParaRPr lang="en-US" sz="10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394960" y="868680"/>
          <a:ext cx="34747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/>
          <p:nvPr/>
        </p:nvSpPr>
        <p:spPr>
          <a:xfrm>
            <a:off x="5394960" y="41148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samples/sec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394960" y="4343400"/>
            <a:ext cx="3474720" cy="640080"/>
          </a:xfrm>
          <a:prstGeom prst="rect">
            <a:avLst/>
          </a:prstGeom>
          <a:solidFill>
            <a:srgbClr val="2C1E1A"/>
          </a:solidFill>
          <a:ln w="12700">
            <a:solidFill>
              <a:srgbClr val="2C1E1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94960" y="43891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 1→8→32 A100s on demand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second · No fixed config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Synthetic-to-Real Visual Gap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Sim-to-Real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68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SIM-TO-REAL ANALYSIS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sim_to_real_gap.py — automated gap scoring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663440" cy="8229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508760"/>
            <a:ext cx="54864" cy="82296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15636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Bhattacharyya Distance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18745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histogram overlap between SDG and real camera frames. Score 0–10.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14600"/>
            <a:ext cx="4663440" cy="8229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514600"/>
            <a:ext cx="54864" cy="82296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5694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 Proxy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288036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distribution distance via pretrained ResNet. Measures semantic realism.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4663440" cy="82296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520440"/>
            <a:ext cx="54864" cy="82296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5753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Confidence Drop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388620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GR00T action certainty on real frames vs synthetic. Quantifies transfer gap.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0" y="868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TUNING LEVERS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486400" y="1097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1097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jitter ±15°, brightness ±30%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1444752"/>
            <a:ext cx="3337560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0" y="1810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Lighting: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29400" y="18105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intensity, directional angle randomization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0" y="2157984"/>
            <a:ext cx="3337560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0" y="2523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Textures: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25237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roughness, reflectance variation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0" y="2871216"/>
            <a:ext cx="3337560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0" y="32369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Geometry: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29400" y="323697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FOV, position ±5cm noise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0" y="3584448"/>
            <a:ext cx="3337560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0" y="39502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629400" y="395020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score 0–10 + actionable Isaac Sim params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20040" y="484632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analysis guides SDG parameter tuning before deploying to physical robot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OCI → Jetson: The Deployment Path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Edge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868680"/>
            <a:ext cx="2560320" cy="256032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868680"/>
            <a:ext cx="256032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OCI A100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2984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5k steps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581912"/>
            <a:ext cx="2377440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64208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GR00T N1.6-3B (3B params)</a:t>
            </a:r>
            <a:endParaRPr lang="en-US" sz="11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~7GB checkpoint</a:t>
            </a:r>
            <a:endParaRPr lang="en-US" sz="11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179ms inference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99232" y="173736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3429000" y="868680"/>
            <a:ext cx="2560320" cy="256032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9000" y="868680"/>
            <a:ext cx="256032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914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Distillation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20440" y="12984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→ Student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1581912"/>
            <a:ext cx="2377440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1664208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transformer</a:t>
            </a:r>
            <a:endParaRPr lang="en-US" sz="11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~60M params (20× smaller)</a:t>
            </a:r>
            <a:endParaRPr lang="en-US" sz="11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loss + KL divergence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62472" y="173736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492240" y="868680"/>
            <a:ext cx="2560320" cy="256032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868680"/>
            <a:ext cx="256032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914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AGX Orin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12984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deployment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583680" y="1581912"/>
            <a:ext cx="2377440" cy="0"/>
          </a:xfrm>
          <a:prstGeom prst="line">
            <a:avLst/>
          </a:prstGeom>
          <a:noFill/>
          <a:ln w="12700">
            <a:solidFill>
              <a:srgbClr val="4B556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1664208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grootserver on Jetson</a:t>
            </a:r>
            <a:endParaRPr lang="en-US" sz="11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&lt;100ms</a:t>
            </a:r>
            <a:endParaRPr lang="en-US" sz="110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for robot arm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46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jetson_deploy.sh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46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policy_distillation.py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46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groot_franka_server.py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23360"/>
            <a:ext cx="8503920" cy="685800"/>
          </a:xfrm>
          <a:prstGeom prst="rect">
            <a:avLst/>
          </a:prstGeom>
          <a:solidFill>
            <a:srgbClr val="2C200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41330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Distillation pipeline complete on OCI — physical robot validation is 2027 priority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Seeking design-partner with Franka hardware to validate Jetson inference path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OCI Robotics Compute Program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· Design Partners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0"/>
          </a:xfrm>
          <a:prstGeom prst="line">
            <a:avLst/>
          </a:prstGeom>
          <a:noFill/>
          <a:ln w="12700">
            <a:solidFill>
              <a:srgbClr val="A33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68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PROVIDE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097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OCI A100 compute for initial fine-tuning runs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6420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166420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pipeline support (Genesis → GR00T → your robot)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2311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23113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Co-authorship on technical publication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79806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279806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GTC 2028 joint talk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36499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3649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access to Cosmos world model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9776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57200" y="4187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Manipulation task with proprietary demo data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Willingness to share anonymized results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0" y="868680"/>
            <a:ext cx="3337560" cy="3200400"/>
          </a:xfrm>
          <a:prstGeom prst="rect">
            <a:avLst/>
          </a:prstGeom>
          <a:solidFill>
            <a:srgbClr val="252528"/>
          </a:solidFill>
          <a:ln w="12700">
            <a:solidFill>
              <a:srgbClr val="25252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0" y="868680"/>
            <a:ext cx="3337560" cy="5029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0" y="914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Design Partner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77840" y="1298448"/>
            <a:ext cx="3154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B robotics startup in NVIDIA ecosystem</a:t>
            </a:r>
            <a:endParaRPr lang="en-US" sz="115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Manipulation task (pick, place, assembly, bin picking)</a:t>
            </a:r>
            <a:endParaRPr lang="en-US" sz="115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that's hit the DGX CapEx wall</a:t>
            </a:r>
            <a:endParaRPr lang="en-US" sz="115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US-origin data (FedRAMP / OC2 compliance)</a:t>
            </a:r>
            <a:endParaRPr lang="en-US" sz="1150" dirty="0"/>
          </a:p>
          <a:p>
            <a:pPr marL="101600" indent="-101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co-develop and publish results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0" y="4160520"/>
            <a:ext cx="3337560" cy="777240"/>
          </a:xfrm>
          <a:prstGeom prst="rect">
            <a:avLst/>
          </a:prstGeom>
          <a:solidFill>
            <a:srgbClr val="2C1E1A"/>
          </a:solidFill>
          <a:ln w="12700">
            <a:solidFill>
              <a:srgbClr val="2C1E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0" y="4251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jun.q.qian@oracle.com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0" y="452628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github.com/qianjun22/roboticsai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9600" y="489204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74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CLOUD INFRASTRUCTURE  ×  NVIDIA GR00T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503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Infrastructure Layer for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 Foundation Models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2697480" cy="1143000"/>
          </a:xfrm>
          <a:prstGeom prst="rect">
            <a:avLst/>
          </a:prstGeom>
          <a:solidFill>
            <a:srgbClr val="252528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24028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8.7×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65760" y="281635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improvement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random baseline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2148840"/>
            <a:ext cx="2697480" cy="1143000"/>
          </a:xfrm>
          <a:prstGeom prst="rect">
            <a:avLst/>
          </a:prstGeom>
          <a:solidFill>
            <a:srgbClr val="252528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224028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$0.0043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291840" y="281635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training steps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2697480" cy="1143000"/>
          </a:xfrm>
          <a:prstGeom prst="rect">
            <a:avLst/>
          </a:prstGeom>
          <a:solidFill>
            <a:srgbClr val="252528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24028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217920" y="2816352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→ train → eval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42900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GR00T N1.6 is the model.  OCI is where it learns.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4592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20240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oci-robot-cloud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93192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06240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github.com/qianjun22/roboticsai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86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4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2240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jun.q.qian@oracle.com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5760" y="4892040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GTC 2027  ·  Oracle Cloud Infrastructure × NVIDIA  ·  Session [ID TBD]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Synthetic Data to Real Robot Actions — GTC 2027</dc:title>
  <dc:subject>PptxGenJS Presentation</dc:subject>
  <dc:creator>Jun Qian</dc:creator>
  <cp:lastModifiedBy>Jun Qian</cp:lastModifiedBy>
  <cp:revision>1</cp:revision>
  <dcterms:created xsi:type="dcterms:W3CDTF">2026-03-29T11:28:17Z</dcterms:created>
  <dcterms:modified xsi:type="dcterms:W3CDTF">2026-03-29T11:28:17Z</dcterms:modified>
</cp:coreProperties>
</file>